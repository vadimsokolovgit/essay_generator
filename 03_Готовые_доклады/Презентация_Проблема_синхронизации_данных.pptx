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ФГАОУ ВО МГТУ «СТАНКИН» •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Проблема синхронизации данных между облачными и локальными хранилищами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Анализ когерентности, версионных коллизий, теорем CAP/PACELC и алгоритмов блочной дедупликации в цифровом производстве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3200400" cy="164592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26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⚡  Дисциплина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Основы технологий цифрового производства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389120"/>
            <a:ext cx="3200400" cy="164592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4526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⚙️  Фокус работы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Edge &amp; Cloud Hybrid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389120"/>
            <a:ext cx="3200400" cy="164592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5262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🎓  Формат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Академический доклад по ГОСТу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ФГАОУ ВО МГТУ «СТАНКИН»  |  Слайд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01.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Предпосылки гибридного хранения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Разделение информационных потоков: Локальный контур vs Публичное облако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🏭  Локальный контур (Edge / NAS / ПЛК)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Управление оборудованием: ПЛК и IIoT требуют отклика &lt; 10 мс без сетевого джиттера.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Автономия производства: Обрыв внешней связи не должен останавливать работу цеха.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Безопасность КИИ: Рецептуры и конструкторские чертежи защищены коммерческой тайной.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Первичная обработка: Фильтрация и сжатие сырых сигналов вибраций и температур.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☁️  Облачный контур (Cloud S3 / Analytics)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Предиктивная аналитика: Обучение ML-моделей на долгосрочных архивах телеметрии.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Глобальный обмен: Централизованная синхронизация НСИ и документации между филиалами.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Неограниченные ресурсы: Масштабируемые мощности объектных хранилищ (Amazon S3, Azure).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Резервное копирование: Долгосрочное «холодное» хранение снимков данных.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ФГАОУ ВО МГТУ «СТАНКИН»  |  Слайд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02. ТЕОРИЯ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Ограничения теорем CAP и PACELC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Фундаментальный выбор между задержкой (Latency) и согласованностью (Consistency)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⚖️  Теорема CAP в гибридных средах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В распределенной системе при наличии сетевых разрывов (P) выбор сводится к CP или AP.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Модель CP (Consistency/Partition): При обрыве связи узел БЛОКИРУЕТ запись. Неприемлемо для ЧПУ!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Модель AP (Availability/Partition): Узел продолжает запись автономно. Данные расходятся → неизбежно последующее слияние.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⏱️  Теорема PACELC &amp; Eventual Consistency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В штатном режиме (Else) выбирается компромисс между Latency (L) и Consistency (C).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Strong Consistency: Задержка 100+ мс на каждый RTT запрос к облаку разрушает производительность I/O.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Eventual Consistency: Мгновенная локальная запись + асинхронный сброс в облако.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Inconsistency Window: Окно несогласованности, где возникают версионные конфликты.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ФГАОУ ВО МГТУ «СТАНКИН»  |  Слайд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03. АНАЛИЗ КОЛЛИЗИЙ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Ключевые проблемы и аномалии синхронизации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Аномалии параллельной модификации, дрейф часов и избыточность трафика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03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💥  Lost Update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Параллельные изменения локального цеха и облака.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Стратегия Last-Write-Wins безвозвратно затирает правки.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46888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103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🕰️  Clock Drift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Дрейф физических часов таймеров серверов.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Метки времени NTP искажают хронологию операций.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46888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2103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📦  Whole-File Sync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Пересылка 10 ГБ файла из-за правки 2 байт.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Перегрузка интернет-канала и раздувание egress-трафика.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11680"/>
            <a:ext cx="246888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148840"/>
            <a:ext cx="2103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🗂️  POSIX vs S3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Несовместимость метаданных POSIX ACL и S3 Object API.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Потеря расширенных атрибутов xattr и жестких ссылок.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ФГАОУ ВО МГТУ «СТАНКИН»  |  Слайд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04. АЛГОРИТМЫ АРБИТРАЖА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Векторные часы и структуры CRDT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Детерминированный арбитраж конфликтов без использования физического времени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🔢  Векторные часы (Version Vectors)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Каждый узел ведет вектор счетчиков V = [c1, c2, ... cn].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Точно определяет отношение причинно-следственной связи (Causality).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V2 &gt;= V1 → Прямой потомок (безопасное обновление).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V2 &lt; V1 → Устаревший пакет данных (игнорирование).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Разнонаправленные векторы → Фиксация параллельного конфликта.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🧬  Бесконфликтные типы данных (CRDT)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Гарантируют строгую сходимость в конечном счете (Strong Eventual Consistency).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1. Коммутативность: A ⊔ B = B ⊔ A (порядок пакетов не имеет значения).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2. Ассоциативность: (A ⊔ B) ⊔ C = A ⊔ (B ⊔ C).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3. Идемпотентность: A ⊔ A = A (повторные пакеты не портят состояние).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Применение: Распределенные счетчики и текстовые документы.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ФГАОУ ВО МГТУ «СТАНКИН»  |  Слайд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05. ОПТИМИЗАЦИЯ ТРАФИКА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Контентно-зависимое разбиение (FastCDC)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Блочная дельта-синхронизация и устранение проблемы сдвига границ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✂️  Проблема фиксированного чанкинга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При разбиении на фиксированные блоки (по 4 МБ) вставка 1 байта в начало файла сдвигает все границы.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Контрольные суммы абсолютно всех последующих блоков меняются.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Система вынуждена повторно передавать 100% объема файла по сети.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Нерациональный расход полосы пропускания и ресурсов хранилища.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⚡  Алгоритм FastCDC / Rabin Fingerprinting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Точки разреза фиксируются структурой содержимого с помощью скользящего окна (48-64 байт).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Скользящее хеширование за O(1) при сдвиге на 1 байт.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Граница блока фиксируется, когда младшие k бит хеша равны 0.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Вставка данных меняет границы только 1 текущего блока! Все остальные блоки сохраняют свои SHA-256 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ФГАОУ ВО МГТУ «СТАНКИН»  |  Слайд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06. БЫСТРАЯ СВЕРКА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Иерархическая сверка через Деревья Меркла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Локализация расхождений данных за O(log N) сетевых запросов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40080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60350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🌳  Принцип работы Дерева Хешей (Merkle Tree)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Листья дерева содержат криптографические хеши (SHA-256) отдельных блоков файла.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Родительские узлы вычисляются путем хеширования пары дочерних хешей.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1. Сначала локальный агент и облако сверяют только Root Hash (1 сетевой запрос).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2. Если Root Hash совпал — массивы данных 100% идентичны!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3. При расхождении система спускается только по ветвям с изменившимися хешами.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011680"/>
            <a:ext cx="384048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59" y="2148840"/>
            <a:ext cx="34747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📊  Выигрыш в производительности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Сложность поиска: O(log N) вместо полного сканирования O(N).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Экономия трафика: Сокращение служебных запросов более чем на 95%.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Безопасность: Криптографическая гарантированная целостность каждого блока.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ФГАОУ ВО МГТУ «СТАНКИН»  |  Слайд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07. CDC &amp; EVENT-DRIVEN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Захват изменений данных (CDC &amp; Kafka)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Переход от периодического опроса (Polling) к реагированию на события ядра ОС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🐧  Ядро ОС (Inotify / USN)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Linux VFS: inotify и fanotify перехватывают вызовы modify, create, delete.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Windows NTFS: ReadDirectoryChangesW и журнал USN.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🗄️  СУБД WAL / Debezium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Прямое чтение транзакционного журнала (WAL в Postgres, binlog в MySQL).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Без тяжелых SELECT запросов!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📨  Apache Kafka / Bus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Потоковая трансляция событий с семантикой At-Least-Once.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Фиксация Offsets позволяет легко восстановить чтение после сбоя.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ФГАОУ ВО МГТУ «СТАНКИН»  |  Слайд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08. ШЛЮЗЫ ХРАНЕНИЯ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Cloud Storage Gateways &amp; Automated Tiering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Локальный кэш записи и прозрачное разрежение файлов (Stub Files)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🔀  Трансляция протоколов &amp; Write-Back Cache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Предоставляет цеху стандартные интерфейсы SMB / NFS / iSCSI.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С обратной стороны транслирует операции в REST API S3.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Write-Back Cache (NVMe): Запись подтверждается локально за &lt; 1 мс.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Асинхронный воркер сжимает и сбрасывает данные в облако.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1206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❄️  Разряжение файлов (Cloud Tiering)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Редко используемые «холодные» файлы вытесняются в облачное хранилище.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Локально остается Stub File (Заглушка), сохраняющий имя и POSIX/NTFS ACL.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File Hydration: При обращении к заглушке драйвер прозрачно подгружает требуемый Byte-Range из S3.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ФГАОУ ВО МГТУ «СТАНКИН»  |  Слайд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09. СРАВНЕНИЕ РЕШЕНИЙ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Сравнительный анализ промышленных систем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Сравнение AWS Storage Gateway, Azure File Sync, Nextcloud, Seafile и MinIO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705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Платформа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Модель синхронизации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Блочная дельта-синхр.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Арбитраж конфликтов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Права доступа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Azure File Sync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Hub-and-Spoke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Поблочно (4 МБ)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Конфликтные копии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NTFS ACL (Полная)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AWS Storage Gateway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Файловый / Блочный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Да (EBS / S3 Tiering)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Версионирование S3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POSIX / SMB ACL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Nextcloud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Двунаправленная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Нет (Файл целиком)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Версионирование в БД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Базовые WebDAV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Seafile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Деревья коммитов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Да (FastCDC чанкинг)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Ветвление репозитория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Собственные ACL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MinIO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S3 Replication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Объектная репликация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S3 Versioning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IAM Политики</a:t>
                      </a:r>
                    </a:p>
                  </a:txBody>
                  <a:tcPr>
                    <a:solidFill>
                      <a:srgbClr val="161F3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ФГАОУ ВО МГТУ «СТАНКИН»  |  Слайд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10. РЕКОМЕНДАЦИИ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Практические кейсы внедрения в производстве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Оптимальный выбор архитектуры под разные типы задач предприятия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📐  САПР &amp; 3D-Модели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Решение: Seafile / FastCDC.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Передаются только дельта-блоки при изменении параметров чертежей.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Защищает каналы связи от многогигабайтных повторных загрузок.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⚙️  MES &amp; Станки ЧПУ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Решение: Гибридный шлюз (SMB/NFS).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Станки работают с локальной папкой без установки агентов.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Полная автономия цеха при разрывах интернета.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📡  IIoT &amp; Телеметрия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Решение: MinIO + Kafka Bus.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Локальное накопление рядов данных с асинхронной репликацией бакетов.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Обучение ML-моделей в облаке.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ФГАОУ ВО МГТУ «СТАНКИН»  |  Слайд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11. 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Заключение и ключевые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Научно-практические выводы исследования синхронизации данных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486400" cy="4023360"/>
          </a:xfrm>
          <a:prstGeom prst="roundRect">
            <a:avLst/>
          </a:prstGeom>
          <a:solidFill>
            <a:srgbClr val="161F33"/>
          </a:solidFill>
          <a:ln w="19050">
            <a:solidFill>
              <a:srgbClr val="28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✅  Основные результаты исследования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Eventual Consistency — единственная практичная модель для гибридных производств.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Логическое время (CRDT) полностью устраняет ошибки дрейфа физических часов NTP.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FastCDC &amp; Merkle Trees дают экономию сетевого трафика более 90%.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t>• Гибридные шлюзы (Storage Gateways) обеспечивают автономию цеха при авариях связи.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011680"/>
            <a:ext cx="4846320" cy="4023360"/>
          </a:xfrm>
          <a:prstGeom prst="roundRect">
            <a:avLst/>
          </a:prstGeom>
          <a:solidFill>
            <a:srgbClr val="1E2D4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2800" b="1">
                <a:solidFill>
                  <a:srgbClr val="F8FAFC"/>
                </a:solidFill>
              </a:defRPr>
            </a:pPr>
            <a:r>
              <a:t>Спасибо за внимание!</a:t>
            </a:r>
          </a:p>
          <a:p>
            <a:pPr algn="ctr">
              <a:spcAft>
                <a:spcPts val="3000"/>
              </a:spcAft>
              <a:defRPr sz="1600">
                <a:solidFill>
                  <a:srgbClr val="94A3B8"/>
                </a:solidFill>
              </a:defRPr>
            </a:pPr>
            <a:r>
              <a:t>Готов ответить на ваши вопросы</a:t>
            </a:r>
            <a:br/>
            <a:r>
              <a:t>по теме доклада</a:t>
            </a:r>
          </a:p>
          <a:p>
            <a:pPr algn="ctr">
              <a:defRPr sz="1400" b="1">
                <a:solidFill>
                  <a:srgbClr val="38BDF8"/>
                </a:solidFill>
              </a:defRPr>
            </a:pPr>
            <a:r>
              <a:t>МГТУ «СТАНКИН»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ФГАОУ ВО МГТУ «СТАНКИН»  |  Слайд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